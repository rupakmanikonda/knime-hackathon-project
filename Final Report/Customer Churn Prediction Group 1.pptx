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5" r:id="rId5"/>
    <p:sldId id="260" r:id="rId6"/>
    <p:sldId id="261" r:id="rId7"/>
    <p:sldId id="262" r:id="rId8"/>
    <p:sldId id="263" r:id="rId9"/>
    <p:sldId id="266" r:id="rId10"/>
    <p:sldId id="264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6FC6"/>
    <a:srgbClr val="91CB75"/>
    <a:srgbClr val="FAC859"/>
    <a:srgbClr val="FFF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11"/>
    <p:restoredTop sz="94610"/>
  </p:normalViewPr>
  <p:slideViewPr>
    <p:cSldViewPr snapToGrid="0" snapToObjects="1">
      <p:cViewPr>
        <p:scale>
          <a:sx n="120" d="100"/>
          <a:sy n="120" d="100"/>
        </p:scale>
        <p:origin x="12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09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749E8-4E1B-628D-F3D6-2EC446C8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05DE7-8D66-D1CF-A8A5-3E8F7AA8E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47A25-31F5-69AC-AB85-3E9E48A8B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6C3BA-F806-7708-C558-46354F6B89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33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CCF4-367E-C212-A8B6-FC81D115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23804-E046-CA11-005C-B369F276D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10527-FC8B-C225-AFEB-76AB09529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CB33A-F5F8-B6F3-B80D-1162AF8339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74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blastchar/telco-customer-chur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924050"/>
            <a:ext cx="8115300" cy="1295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58150" y="4038600"/>
            <a:ext cx="571500" cy="571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58150" y="4038600"/>
            <a:ext cx="571500" cy="571500"/>
          </a:xfrm>
          <a:prstGeom prst="ellipse">
            <a:avLst/>
          </a:prstGeom>
          <a:solidFill>
            <a:srgbClr val="FFF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4349" y="3943350"/>
            <a:ext cx="6768193" cy="75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Monish Jayaprakash Seelam – MJS230000</a:t>
            </a:r>
            <a:endParaRPr lang="en-US" sz="1500" dirty="0"/>
          </a:p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Rupak Manikonda – RXM230010</a:t>
            </a:r>
            <a:endParaRPr lang="en-US" sz="1500" dirty="0"/>
          </a:p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 err="1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Ulchala</a:t>
            </a: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Vikas Kumar Reddy – VXU230003</a:t>
            </a:r>
          </a:p>
          <a:p>
            <a:pPr marL="0" indent="0" algn="l">
              <a:lnSpc>
                <a:spcPts val="1999"/>
              </a:lnSpc>
              <a:buNone/>
            </a:pPr>
            <a:endParaRPr lang="en-US" sz="1500" kern="0" spc="-15" dirty="0">
              <a:solidFill>
                <a:srgbClr val="FFFFFF">
                  <a:alpha val="99000"/>
                </a:srgbClr>
              </a:solidFill>
              <a:latin typeface="Playfair Display" pitchFamily="34" charset="0"/>
              <a:ea typeface="Playfair Display" pitchFamily="34" charset="-122"/>
              <a:cs typeface="Playfair Display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4350" y="1924050"/>
            <a:ext cx="8572500" cy="890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6998"/>
              </a:lnSpc>
              <a:buNone/>
            </a:pPr>
            <a:r>
              <a:rPr lang="en-US" sz="5250" kern="0" spc="-105" dirty="0">
                <a:solidFill>
                  <a:srgbClr val="FFF94B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Customer Churn Prediction</a:t>
            </a:r>
            <a:endParaRPr lang="en-US" sz="5250" dirty="0"/>
          </a:p>
        </p:txBody>
      </p:sp>
      <p:sp>
        <p:nvSpPr>
          <p:cNvPr id="7" name="Text 5"/>
          <p:cNvSpPr/>
          <p:nvPr/>
        </p:nvSpPr>
        <p:spPr>
          <a:xfrm>
            <a:off x="514350" y="28765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kern="0" spc="-22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Using KNIME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43250" cy="5143500"/>
          </a:xfrm>
          <a:prstGeom prst="rect">
            <a:avLst/>
          </a:prstGeom>
          <a:solidFill>
            <a:srgbClr val="FFF9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Playfair Display" panose="00000500000000000000" pitchFamily="2" charset="0"/>
              </a:rPr>
              <a:t>Setting the Stage: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Playfair Display" panose="00000500000000000000" pitchFamily="2" charset="0"/>
              </a:rPr>
              <a:t>Purpose and Data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Playfair Display" panose="00000500000000000000" pitchFamily="2" charset="0"/>
              </a:rPr>
              <a:t>Foundation</a:t>
            </a:r>
            <a:endParaRPr lang="en-US" dirty="0">
              <a:latin typeface="Playfair Display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524250" y="1123950"/>
            <a:ext cx="5105400" cy="2895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524250" y="1123950"/>
            <a:ext cx="51054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24250" y="2419350"/>
            <a:ext cx="5105400" cy="1600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524250" y="2419350"/>
            <a:ext cx="5562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kern="0" spc="-22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Dataset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524250" y="2876550"/>
            <a:ext cx="5562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Telco Customer Churn dataset - </a:t>
            </a:r>
            <a:r>
              <a:rPr lang="en-US" sz="1050" u="sng" kern="0" spc="26" dirty="0">
                <a:solidFill>
                  <a:srgbClr val="64BAF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https://www.kaggle.com/datasets/blastchar/telco-customer-churn</a:t>
            </a:r>
            <a:endParaRPr lang="en-US" sz="10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94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7032</a:t>
            </a: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customer records, </a:t>
            </a:r>
            <a:r>
              <a:rPr lang="en-US" sz="1050" kern="0" spc="26" dirty="0">
                <a:solidFill>
                  <a:srgbClr val="FFF94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60</a:t>
            </a: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features after preprocessing</a:t>
            </a:r>
            <a:endParaRPr lang="en-US" sz="10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Features include tenure, contract type, monthly charges, internet service, etc.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123950"/>
            <a:ext cx="5562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kern="0" spc="-22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Objective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3524250" y="1581150"/>
            <a:ext cx="5562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Predict which customers are likely to churn.</a:t>
            </a:r>
            <a:endParaRPr lang="en-US" sz="10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Identify key drivers of churn for actionable insights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638300"/>
            <a:ext cx="8115300" cy="914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58150" y="476250"/>
            <a:ext cx="571500" cy="571500"/>
          </a:xfrm>
          <a:prstGeom prst="ellipse">
            <a:avLst/>
          </a:prstGeom>
          <a:solidFill>
            <a:srgbClr val="FFF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486028" y="2667000"/>
            <a:ext cx="45719" cy="252413"/>
          </a:xfrm>
          <a:prstGeom prst="rect">
            <a:avLst/>
          </a:prstGeom>
          <a:solidFill>
            <a:srgbClr val="556FC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59742" y="4347094"/>
            <a:ext cx="45719" cy="258244"/>
          </a:xfrm>
          <a:prstGeom prst="rect">
            <a:avLst/>
          </a:prstGeom>
          <a:solidFill>
            <a:srgbClr val="FAC85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663" y="2667000"/>
            <a:ext cx="2947988" cy="19383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4350" y="476250"/>
            <a:ext cx="7153275" cy="985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799"/>
              </a:lnSpc>
              <a:buNone/>
            </a:pPr>
            <a:r>
              <a:rPr lang="en-US" sz="3600" kern="0" spc="-36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</a:rPr>
              <a:t>Uncovering Patterns: What the Data Reveals</a:t>
            </a:r>
            <a:endParaRPr lang="en-US" sz="3600" dirty="0"/>
          </a:p>
        </p:txBody>
      </p:sp>
      <p:sp>
        <p:nvSpPr>
          <p:cNvPr id="10" name="Text 5"/>
          <p:cNvSpPr/>
          <p:nvPr/>
        </p:nvSpPr>
        <p:spPr>
          <a:xfrm>
            <a:off x="6275476" y="2667000"/>
            <a:ext cx="1760361" cy="331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-15" dirty="0">
                <a:solidFill>
                  <a:schemeClr val="tx1">
                    <a:lumMod val="75000"/>
                    <a:lumOff val="25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Internet Service vs Churn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514350" y="1562100"/>
            <a:ext cx="85725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Most churned customers have tenure &lt; 10 months</a:t>
            </a:r>
            <a:endParaRPr lang="en-US" sz="10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Customers with high monthly charges are more likely to churn</a:t>
            </a:r>
            <a:endParaRPr lang="en-US" sz="10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Month-to-month contracts show higher churn risk</a:t>
            </a:r>
            <a:endParaRPr lang="en-US" sz="10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 feature tenure_to_total_ratio helps distinguish low-commitment high-cost customers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51B9BD-9BD9-9377-FEC5-C478631EB772}"/>
              </a:ext>
            </a:extLst>
          </p:cNvPr>
          <p:cNvSpPr txBox="1"/>
          <p:nvPr/>
        </p:nvSpPr>
        <p:spPr>
          <a:xfrm>
            <a:off x="2531747" y="2665496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No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4567A20C-94B2-50D0-28DA-FCC23F9FB596}"/>
              </a:ext>
            </a:extLst>
          </p:cNvPr>
          <p:cNvSpPr/>
          <p:nvPr/>
        </p:nvSpPr>
        <p:spPr>
          <a:xfrm>
            <a:off x="2486028" y="3000022"/>
            <a:ext cx="45719" cy="252413"/>
          </a:xfrm>
          <a:prstGeom prst="rect">
            <a:avLst/>
          </a:prstGeom>
          <a:solidFill>
            <a:srgbClr val="91CB7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C5197-51BF-67BD-E464-FDFEAD0199DC}"/>
              </a:ext>
            </a:extLst>
          </p:cNvPr>
          <p:cNvSpPr txBox="1"/>
          <p:nvPr/>
        </p:nvSpPr>
        <p:spPr>
          <a:xfrm>
            <a:off x="2531747" y="2998518"/>
            <a:ext cx="14670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No phone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33FA37-9259-635C-A5BE-895E4DA03264}"/>
              </a:ext>
            </a:extLst>
          </p:cNvPr>
          <p:cNvSpPr txBox="1"/>
          <p:nvPr/>
        </p:nvSpPr>
        <p:spPr>
          <a:xfrm>
            <a:off x="5201696" y="4347094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No</a:t>
            </a: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06043883-6191-E08F-5AC7-E63EF70AEFCB}"/>
              </a:ext>
            </a:extLst>
          </p:cNvPr>
          <p:cNvSpPr/>
          <p:nvPr/>
        </p:nvSpPr>
        <p:spPr>
          <a:xfrm>
            <a:off x="5559742" y="4016978"/>
            <a:ext cx="45719" cy="258244"/>
          </a:xfrm>
          <a:prstGeom prst="rect">
            <a:avLst/>
          </a:prstGeom>
          <a:solidFill>
            <a:srgbClr val="91CB7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590915-D11F-83B9-E38D-FA4E6DB300E0}"/>
              </a:ext>
            </a:extLst>
          </p:cNvPr>
          <p:cNvSpPr txBox="1"/>
          <p:nvPr/>
        </p:nvSpPr>
        <p:spPr>
          <a:xfrm>
            <a:off x="4482667" y="4016978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Fiber Optic</a:t>
            </a: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0332CFBC-050F-08EB-E634-8765A4D5B551}"/>
              </a:ext>
            </a:extLst>
          </p:cNvPr>
          <p:cNvSpPr/>
          <p:nvPr/>
        </p:nvSpPr>
        <p:spPr>
          <a:xfrm>
            <a:off x="5559742" y="3683956"/>
            <a:ext cx="45719" cy="258244"/>
          </a:xfrm>
          <a:prstGeom prst="rect">
            <a:avLst/>
          </a:prstGeom>
          <a:solidFill>
            <a:srgbClr val="556FC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B6FAF2-17D8-79F2-8839-B849389A2589}"/>
              </a:ext>
            </a:extLst>
          </p:cNvPr>
          <p:cNvSpPr txBox="1"/>
          <p:nvPr/>
        </p:nvSpPr>
        <p:spPr>
          <a:xfrm>
            <a:off x="5121546" y="3683956"/>
            <a:ext cx="4251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DSL</a:t>
            </a:r>
          </a:p>
        </p:txBody>
      </p:sp>
      <p:pic>
        <p:nvPicPr>
          <p:cNvPr id="25" name="Picture 2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22E0AF65-FE6D-1C4B-DF7B-C7F7DB0323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4" b="5397"/>
          <a:stretch/>
        </p:blipFill>
        <p:spPr>
          <a:xfrm>
            <a:off x="514349" y="2665496"/>
            <a:ext cx="1895476" cy="1935514"/>
          </a:xfrm>
          <a:prstGeom prst="roundRect">
            <a:avLst>
              <a:gd name="adj" fmla="val 3570"/>
            </a:avLst>
          </a:prstGeom>
        </p:spPr>
      </p:pic>
      <p:sp>
        <p:nvSpPr>
          <p:cNvPr id="11" name="Text 6"/>
          <p:cNvSpPr/>
          <p:nvPr/>
        </p:nvSpPr>
        <p:spPr>
          <a:xfrm>
            <a:off x="1255271" y="2655288"/>
            <a:ext cx="1109184" cy="354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-15" dirty="0">
                <a:solidFill>
                  <a:schemeClr val="tx1">
                    <a:lumMod val="75000"/>
                    <a:lumOff val="25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Multiple Lines vs Churn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A589788D-4715-86DF-2610-F7A6475D0CEC}"/>
              </a:ext>
            </a:extLst>
          </p:cNvPr>
          <p:cNvSpPr/>
          <p:nvPr/>
        </p:nvSpPr>
        <p:spPr>
          <a:xfrm>
            <a:off x="2486027" y="3331539"/>
            <a:ext cx="45719" cy="258244"/>
          </a:xfrm>
          <a:prstGeom prst="rect">
            <a:avLst/>
          </a:prstGeom>
          <a:solidFill>
            <a:srgbClr val="FAC85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C76A97-D2B3-78BC-6D6A-6E1100E94721}"/>
              </a:ext>
            </a:extLst>
          </p:cNvPr>
          <p:cNvSpPr txBox="1"/>
          <p:nvPr/>
        </p:nvSpPr>
        <p:spPr>
          <a:xfrm>
            <a:off x="2519564" y="3331538"/>
            <a:ext cx="4251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8150" y="571500"/>
            <a:ext cx="571500" cy="571500"/>
          </a:xfrm>
          <a:prstGeom prst="ellipse">
            <a:avLst/>
          </a:prstGeom>
          <a:solidFill>
            <a:srgbClr val="FFF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38869" y="1041400"/>
            <a:ext cx="7266261" cy="3060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600" kern="0" spc="-36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Bringing Insights to Life Through Visuals</a:t>
            </a:r>
            <a:endParaRPr lang="en-US" sz="6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3629025"/>
            <a:ext cx="1943100" cy="103822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71750" y="3629025"/>
            <a:ext cx="1943100" cy="103822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629150" y="3629025"/>
            <a:ext cx="1943100" cy="103822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86550" y="3629025"/>
            <a:ext cx="1943100" cy="103822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009650"/>
            <a:ext cx="1943100" cy="210502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1009650"/>
            <a:ext cx="1943100" cy="210502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1009650"/>
            <a:ext cx="1943100" cy="210502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0" y="1009650"/>
            <a:ext cx="1943100" cy="21050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86550" y="3190875"/>
            <a:ext cx="24003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kern="0" spc="-12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Churn Category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6686550" y="3657600"/>
            <a:ext cx="19431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kern="0" spc="2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Approximately 26% of customers have churned, highlighting a significant minority at risk that warrants focused retention efforts.</a:t>
            </a:r>
            <a:endParaRPr lang="en-US" sz="675" dirty="0"/>
          </a:p>
        </p:txBody>
      </p:sp>
      <p:sp>
        <p:nvSpPr>
          <p:cNvPr id="15" name="Text 8"/>
          <p:cNvSpPr/>
          <p:nvPr/>
        </p:nvSpPr>
        <p:spPr>
          <a:xfrm>
            <a:off x="4629150" y="3190875"/>
            <a:ext cx="24003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kern="0" spc="-12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Charges Distribution by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kern="0" spc="-12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Churns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629150" y="3657600"/>
            <a:ext cx="19431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kern="0" spc="2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Churned customers generally have lower tenure and total charges but slightly higher monthly charges, indicating early dropout despite paying more per month.</a:t>
            </a:r>
            <a:endParaRPr lang="en-US" sz="675" dirty="0"/>
          </a:p>
        </p:txBody>
      </p:sp>
      <p:sp>
        <p:nvSpPr>
          <p:cNvPr id="17" name="Text 10"/>
          <p:cNvSpPr/>
          <p:nvPr/>
        </p:nvSpPr>
        <p:spPr>
          <a:xfrm>
            <a:off x="2571750" y="3190875"/>
            <a:ext cx="24003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kern="0" spc="-12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Payment Method vs Churn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2571750" y="3657600"/>
            <a:ext cx="19431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kern="0" spc="2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Customers paying via electronic check show the highest churn, suggesting potential dissatisfaction or disengagement with that payment mode.</a:t>
            </a:r>
            <a:endParaRPr lang="en-US" sz="675" dirty="0"/>
          </a:p>
        </p:txBody>
      </p:sp>
      <p:sp>
        <p:nvSpPr>
          <p:cNvPr id="19" name="Text 12"/>
          <p:cNvSpPr/>
          <p:nvPr/>
        </p:nvSpPr>
        <p:spPr>
          <a:xfrm>
            <a:off x="514350" y="3190875"/>
            <a:ext cx="24003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kern="0" spc="-12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Contract Type vs Churn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14350" y="3657600"/>
            <a:ext cx="19431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kern="0" spc="2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Month-to-month contracts show the highest churn, while churn is significantly lower for 1-year and 2-year contracts.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3629025"/>
            <a:ext cx="1943100" cy="10191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71750" y="3629025"/>
            <a:ext cx="1943100" cy="10191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629150" y="3629025"/>
            <a:ext cx="1943100" cy="10191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86550" y="3629025"/>
            <a:ext cx="1943100" cy="10191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971550"/>
            <a:ext cx="1943100" cy="210502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971550"/>
            <a:ext cx="1943100" cy="210502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1314450"/>
            <a:ext cx="1943100" cy="141922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1750" y="1314450"/>
            <a:ext cx="1943100" cy="14192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86550" y="3152775"/>
            <a:ext cx="19431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Monthly Charges vs Churn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6686550" y="3714749"/>
            <a:ext cx="1943100" cy="646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0" b="1" i="0" u="none" strike="noStrike" dirty="0">
                <a:solidFill>
                  <a:schemeClr val="bg1"/>
                </a:solidFill>
                <a:effectLst/>
                <a:latin typeface="Roboto Mono" pitchFamily="49" charset="0"/>
                <a:ea typeface="Roboto Mono" pitchFamily="49" charset="0"/>
              </a:rPr>
              <a:t>Customers with moderate to high monthly charges experience greater churn, indicating potential dissatisfaction with pricing.</a:t>
            </a:r>
            <a:endParaRPr lang="en-US" sz="680" b="1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4629150" y="3152775"/>
            <a:ext cx="19431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Tenure vs Churn</a:t>
            </a:r>
          </a:p>
          <a:p>
            <a:pPr marL="0" indent="0" algn="l">
              <a:lnSpc>
                <a:spcPts val="1999"/>
              </a:lnSpc>
              <a:buNone/>
            </a:pP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4629150" y="3714749"/>
            <a:ext cx="1943100" cy="533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0" b="1" i="0" u="none" strike="noStrike" dirty="0">
                <a:solidFill>
                  <a:schemeClr val="bg1"/>
                </a:solidFill>
                <a:effectLst/>
                <a:latin typeface="Roboto Mono" pitchFamily="49" charset="0"/>
                <a:ea typeface="Roboto Mono" pitchFamily="49" charset="0"/>
              </a:rPr>
              <a:t>Churn is highest among customers with the shortest tenure, emphasizing the need for early-stage engagement.</a:t>
            </a:r>
            <a:endParaRPr lang="en-US" sz="680" b="1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2571750" y="3152775"/>
            <a:ext cx="19431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Total Charges vs Churn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2571750" y="3714748"/>
            <a:ext cx="1943100" cy="6469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0" b="1" i="0" u="none" strike="noStrike" dirty="0">
                <a:solidFill>
                  <a:schemeClr val="bg1"/>
                </a:solidFill>
                <a:effectLst/>
                <a:latin typeface="Roboto Mono" pitchFamily="49" charset="0"/>
                <a:ea typeface="Roboto Mono" pitchFamily="49" charset="0"/>
              </a:rPr>
              <a:t>Churn is heavily concentrated among customers with low total charges, likely due to their short relationship with the service.</a:t>
            </a:r>
            <a:endParaRPr lang="en-US" sz="680" b="1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514350" y="3157151"/>
            <a:ext cx="19431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Contract Type vs Churn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514350" y="3714750"/>
            <a:ext cx="19431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kern="0" spc="2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Month-to-month contracts show the highest churn, while churn is significantly lower for 1-year and 2-year contracts.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8150" y="571500"/>
            <a:ext cx="571500" cy="571500"/>
          </a:xfrm>
          <a:prstGeom prst="ellipse">
            <a:avLst/>
          </a:prstGeom>
          <a:solidFill>
            <a:srgbClr val="FFF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14350" y="533400"/>
            <a:ext cx="7153275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799"/>
              </a:lnSpc>
              <a:buNone/>
            </a:pPr>
            <a:r>
              <a:rPr lang="en-US" sz="3600" kern="0" spc="-36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</a:rPr>
              <a:t>Evaluating Performance: Which Model Wins?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64055"/>
              </p:ext>
            </p:extLst>
          </p:nvPr>
        </p:nvGraphicFramePr>
        <p:xfrm>
          <a:off x="514350" y="1948416"/>
          <a:ext cx="8115302" cy="2133600"/>
        </p:xfrm>
        <a:graphic>
          <a:graphicData uri="http://schemas.openxmlformats.org/drawingml/2006/table">
            <a:tbl>
              <a:tblPr/>
              <a:tblGrid>
                <a:gridCol w="1592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4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99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83838">
                              <a:alpha val="99000"/>
                            </a:srgbClr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99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83838">
                              <a:alpha val="99000"/>
                            </a:srgbClr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Recall (Yes)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99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83838">
                              <a:alpha val="99000"/>
                            </a:srgbClr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Precision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99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83838">
                              <a:alpha val="99000"/>
                            </a:srgbClr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F1 (Yes)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999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83838">
                              <a:alpha val="99000"/>
                            </a:srgbClr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Cohen's Kappa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Playfair" pitchFamily="34" charset="0"/>
                          <a:ea typeface="Playfair" pitchFamily="34" charset="-122"/>
                          <a:cs typeface="Playfair" pitchFamily="34" charset="-120"/>
                        </a:rPr>
                        <a:t>Logistic Regression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0.646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0.494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0.560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0.428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Playfair" pitchFamily="34" charset="0"/>
                          <a:ea typeface="Playfair" pitchFamily="34" charset="-122"/>
                          <a:cs typeface="Playfair" pitchFamily="34" charset="-120"/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0.415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0.683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0.517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0.395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Playfair" pitchFamily="34" charset="0"/>
                          <a:ea typeface="Playfair" pitchFamily="34" charset="-122"/>
                          <a:cs typeface="Playfair" pitchFamily="34" charset="-120"/>
                        </a:rPr>
                        <a:t>XGBoost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0.515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0.631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0.567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8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>
                              <a:alpha val="99000"/>
                            </a:srgbClr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0.431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43250" cy="5143500"/>
          </a:xfrm>
          <a:prstGeom prst="rect">
            <a:avLst/>
          </a:prstGeom>
          <a:solidFill>
            <a:srgbClr val="FFF9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Playfair Display" panose="00000500000000000000" pitchFamily="2" charset="0"/>
              </a:rPr>
              <a:t>Top Performer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0000"/>
                </a:solidFill>
                <a:latin typeface="Playfair Display" panose="00000500000000000000" pitchFamily="2" charset="0"/>
              </a:rPr>
              <a:t>XGBoost</a:t>
            </a:r>
            <a:r>
              <a:rPr lang="en-US" dirty="0">
                <a:solidFill>
                  <a:srgbClr val="000000"/>
                </a:solidFill>
                <a:latin typeface="Playfair Display" panose="00000500000000000000" pitchFamily="2" charset="0"/>
              </a:rPr>
              <a:t> in Action</a:t>
            </a:r>
            <a:endParaRPr lang="en-US" dirty="0">
              <a:latin typeface="Playfair Display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524250" y="390525"/>
            <a:ext cx="5105400" cy="436721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524250" y="3119438"/>
            <a:ext cx="5105400" cy="1638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390525"/>
            <a:ext cx="3581400" cy="26146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24250" y="3119438"/>
            <a:ext cx="55626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999"/>
              </a:lnSpc>
              <a:buNone/>
            </a:pPr>
            <a:r>
              <a:rPr lang="en-US" sz="2250" kern="0" spc="-22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XGBoost?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3524250" y="3614738"/>
            <a:ext cx="5562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Best Cohen's Kappa (0.431) — strongest class agreement</a:t>
            </a:r>
            <a:endParaRPr lang="en-US" sz="10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Balanced Recall &amp; Precision</a:t>
            </a:r>
            <a:endParaRPr lang="en-US" sz="10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050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Higher F1-Score than other models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524250" y="4414838"/>
            <a:ext cx="5562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i="1" kern="0" spc="26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Deployed for churn prediction due to its balance between catching churners and minimizing false positives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8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6FCC5-5886-38FB-94A2-450D3009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05D11A-9F1D-4623-A8E0-ED4551673B8A}"/>
              </a:ext>
            </a:extLst>
          </p:cNvPr>
          <p:cNvSpPr/>
          <p:nvPr/>
        </p:nvSpPr>
        <p:spPr>
          <a:xfrm>
            <a:off x="0" y="0"/>
            <a:ext cx="3143250" cy="5143500"/>
          </a:xfrm>
          <a:prstGeom prst="rect">
            <a:avLst/>
          </a:prstGeom>
          <a:solidFill>
            <a:srgbClr val="FFF9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Decoding Churn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Playfair Display" pitchFamily="2" charset="77"/>
              </a:rPr>
              <a:t>What the Model Tells Us</a:t>
            </a:r>
            <a:endParaRPr lang="en-US" dirty="0">
              <a:latin typeface="Playfair Display" pitchFamily="2" charset="7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35B71D-A282-7586-1E82-1875B1DE9FF3}"/>
              </a:ext>
            </a:extLst>
          </p:cNvPr>
          <p:cNvSpPr/>
          <p:nvPr/>
        </p:nvSpPr>
        <p:spPr>
          <a:xfrm>
            <a:off x="3524250" y="1524000"/>
            <a:ext cx="5105400" cy="2095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34B38D-9548-AFDC-5269-7E4ECBE8FC1E}"/>
              </a:ext>
            </a:extLst>
          </p:cNvPr>
          <p:cNvSpPr/>
          <p:nvPr/>
        </p:nvSpPr>
        <p:spPr>
          <a:xfrm>
            <a:off x="3524250" y="247650"/>
            <a:ext cx="5562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i="0" u="none" strike="noStrike" dirty="0">
                <a:solidFill>
                  <a:schemeClr val="bg1"/>
                </a:solidFill>
                <a:effectLst/>
                <a:latin typeface="Playfair Display" pitchFamily="2" charset="77"/>
              </a:rPr>
              <a:t>Top Features Driving Churn</a:t>
            </a:r>
            <a:endParaRPr lang="en-US" sz="2250" dirty="0">
              <a:solidFill>
                <a:schemeClr val="bg1"/>
              </a:solidFill>
              <a:latin typeface="Playfair Display" pitchFamily="2" charset="77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5DD916A-DCB7-4B2C-B74C-818E7ADE8CCE}"/>
              </a:ext>
            </a:extLst>
          </p:cNvPr>
          <p:cNvSpPr/>
          <p:nvPr/>
        </p:nvSpPr>
        <p:spPr>
          <a:xfrm>
            <a:off x="3524250" y="590550"/>
            <a:ext cx="5562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Tenure</a:t>
            </a: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 – Short tenure = high churn risk</a:t>
            </a:r>
          </a:p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Contract Type</a:t>
            </a: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 – Month-to-month contracts linked to higher churn</a:t>
            </a:r>
          </a:p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Monthly Charges</a:t>
            </a: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 – High monthly charges increase churn likelihood</a:t>
            </a:r>
          </a:p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Total Charges</a:t>
            </a: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 – Low total charges = newer, more likely to churn</a:t>
            </a:r>
          </a:p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Payment Method</a:t>
            </a: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 – Electronic check users churn more than others</a:t>
            </a:r>
          </a:p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Internet Service</a:t>
            </a: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 – Fiber optic users churn more than DSL users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F48C922-E4DE-565A-E8C1-F3C3C1ECA203}"/>
              </a:ext>
            </a:extLst>
          </p:cNvPr>
          <p:cNvSpPr/>
          <p:nvPr/>
        </p:nvSpPr>
        <p:spPr>
          <a:xfrm>
            <a:off x="3524250" y="2400300"/>
            <a:ext cx="5562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i="0" u="none" strike="noStrike" dirty="0">
                <a:solidFill>
                  <a:schemeClr val="bg1"/>
                </a:solidFill>
                <a:effectLst/>
                <a:latin typeface="Playfair Display" pitchFamily="2" charset="77"/>
              </a:rPr>
              <a:t>What the Model Reveals</a:t>
            </a:r>
            <a:endParaRPr lang="en-US" sz="2250" dirty="0">
              <a:solidFill>
                <a:schemeClr val="bg1"/>
              </a:solidFill>
              <a:latin typeface="Playfair Display" pitchFamily="2" charset="77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27BDA3E-DC1C-6E02-CE7F-BCE5EA046520}"/>
              </a:ext>
            </a:extLst>
          </p:cNvPr>
          <p:cNvSpPr/>
          <p:nvPr/>
        </p:nvSpPr>
        <p:spPr>
          <a:xfrm>
            <a:off x="3524250" y="2743200"/>
            <a:ext cx="5562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Churn is </a:t>
            </a: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highest in early-tenure customers (&lt;10 months)</a:t>
            </a:r>
            <a:endParaRPr lang="en-US" sz="105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Customers with </a:t>
            </a: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high monthly charges but low total charges</a:t>
            </a: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 are at risk</a:t>
            </a:r>
          </a:p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Month-to-month contracts</a:t>
            </a: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 are a major churn driver</a:t>
            </a:r>
          </a:p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Payment behavior</a:t>
            </a: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 and </a:t>
            </a: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service type</a:t>
            </a: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 also influence churn likelihood</a:t>
            </a:r>
          </a:p>
          <a:p>
            <a:pPr marL="347472" indent="-347472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The model enables </a:t>
            </a:r>
            <a:r>
              <a:rPr lang="en-US" sz="1050" b="1" dirty="0">
                <a:solidFill>
                  <a:schemeClr val="bg1"/>
                </a:solidFill>
                <a:latin typeface="Roboto Mono" pitchFamily="49" charset="0"/>
                <a:ea typeface="Roboto Mono" pitchFamily="49" charset="0"/>
              </a:rPr>
              <a:t>early identification and segmentation of high-risk customers</a:t>
            </a:r>
            <a:endParaRPr lang="en-US" sz="1050" dirty="0">
              <a:solidFill>
                <a:schemeClr val="bg1"/>
              </a:solidFill>
              <a:latin typeface="Roboto Mono" pitchFamily="49" charset="0"/>
              <a:ea typeface="Roboto Mono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92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43250" cy="5143500"/>
          </a:xfrm>
          <a:prstGeom prst="rect">
            <a:avLst/>
          </a:prstGeom>
          <a:solidFill>
            <a:srgbClr val="FFF9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latin typeface="Playfair Display" panose="00000500000000000000" pitchFamily="2" charset="0"/>
              </a:rPr>
              <a:t>From Insights to Actions</a:t>
            </a:r>
          </a:p>
          <a:p>
            <a:pPr marL="0" indent="0" algn="ctr">
              <a:buNone/>
            </a:pPr>
            <a:r>
              <a:rPr lang="en-US" dirty="0">
                <a:latin typeface="Playfair Display" panose="00000500000000000000" pitchFamily="2" charset="0"/>
              </a:rPr>
              <a:t>Strategic Takeaways</a:t>
            </a:r>
          </a:p>
        </p:txBody>
      </p:sp>
      <p:sp>
        <p:nvSpPr>
          <p:cNvPr id="3" name="Shape 1"/>
          <p:cNvSpPr/>
          <p:nvPr/>
        </p:nvSpPr>
        <p:spPr>
          <a:xfrm>
            <a:off x="3524250" y="628650"/>
            <a:ext cx="5105400" cy="3886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524250" y="628650"/>
            <a:ext cx="5105400" cy="183832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24250" y="2847975"/>
            <a:ext cx="5105400" cy="1752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535681" y="2843212"/>
            <a:ext cx="45719" cy="1666875"/>
          </a:xfrm>
          <a:prstGeom prst="rect">
            <a:avLst/>
          </a:prstGeom>
          <a:solidFill>
            <a:srgbClr val="FFF94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86500" y="2847974"/>
            <a:ext cx="45719" cy="1752601"/>
          </a:xfrm>
          <a:prstGeom prst="rect">
            <a:avLst/>
          </a:prstGeom>
          <a:solidFill>
            <a:srgbClr val="FFF94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24250" y="628650"/>
            <a:ext cx="45719" cy="1838325"/>
          </a:xfrm>
          <a:prstGeom prst="rect">
            <a:avLst/>
          </a:prstGeom>
          <a:solidFill>
            <a:srgbClr val="FFF94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86500" y="628650"/>
            <a:ext cx="45719" cy="1838325"/>
          </a:xfrm>
          <a:prstGeom prst="rect">
            <a:avLst/>
          </a:prstGeom>
          <a:solidFill>
            <a:srgbClr val="FFF94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0" y="2847975"/>
            <a:ext cx="232791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Target Short Tenure + High Charge Segment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0" y="3505200"/>
            <a:ext cx="232791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2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This is the most vulnerable group.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4000500"/>
            <a:ext cx="232791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2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Create retention campaigns with exclusive benefits for customers with low tenure and high bills.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38550" y="2847975"/>
            <a:ext cx="243459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Incentivize Long-Term Contracts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38550" y="3505200"/>
            <a:ext cx="24345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2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Month-to-month customers are more likely to churn.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38550" y="4000500"/>
            <a:ext cx="243459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2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Incentivize annual or 2-year contracts with discounts or loyalty rewards.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0" y="628650"/>
            <a:ext cx="268605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Adjust Pricing Strategy for High-Paying Customers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0" y="1285875"/>
            <a:ext cx="232791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2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High MonthlyCharges are associated with increased churn.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0" y="1781175"/>
            <a:ext cx="232791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2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Offer customizable or discounted bundles to high-paying users to improve perceived value.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38550" y="628650"/>
            <a:ext cx="244221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999"/>
              </a:lnSpc>
              <a:buNone/>
            </a:pPr>
            <a:r>
              <a:rPr lang="en-US" sz="1500" kern="0" spc="-15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Engage New Customers Early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638550" y="1285875"/>
            <a:ext cx="244221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2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Customers with tenure &lt; 10 months have the highest churn risk.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38550" y="1952625"/>
            <a:ext cx="244221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2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Launch onboarding programs and early-stage loyalty offers within the first 3–6 months.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8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BD744-ADE0-B574-C991-F9D9267B6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15F6A6-3817-3ACC-9958-0C08544F711B}"/>
              </a:ext>
            </a:extLst>
          </p:cNvPr>
          <p:cNvSpPr/>
          <p:nvPr/>
        </p:nvSpPr>
        <p:spPr>
          <a:xfrm>
            <a:off x="8058150" y="571500"/>
            <a:ext cx="571500" cy="571500"/>
          </a:xfrm>
          <a:prstGeom prst="ellipse">
            <a:avLst/>
          </a:prstGeom>
          <a:solidFill>
            <a:srgbClr val="FFF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2906CC1-88C6-30CF-338F-AEDA72822027}"/>
              </a:ext>
            </a:extLst>
          </p:cNvPr>
          <p:cNvSpPr/>
          <p:nvPr/>
        </p:nvSpPr>
        <p:spPr>
          <a:xfrm>
            <a:off x="2633663" y="1200150"/>
            <a:ext cx="433387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0800"/>
              </a:lnSpc>
              <a:buNone/>
            </a:pPr>
            <a:r>
              <a:rPr lang="en-US" sz="10800" kern="0" spc="-216" dirty="0">
                <a:solidFill>
                  <a:srgbClr val="FFFFFF">
                    <a:alpha val="99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 You</a:t>
            </a:r>
            <a:endParaRPr lang="en-US" sz="10800" dirty="0"/>
          </a:p>
        </p:txBody>
      </p:sp>
    </p:spTree>
    <p:extLst>
      <p:ext uri="{BB962C8B-B14F-4D97-AF65-F5344CB8AC3E}">
        <p14:creationId xmlns:p14="http://schemas.microsoft.com/office/powerpoint/2010/main" val="2516932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666</Words>
  <Application>Microsoft Macintosh PowerPoint</Application>
  <PresentationFormat>On-screen Show (16:9)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Playfair</vt:lpstr>
      <vt:lpstr>Playfair Display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Seelam, Monish J</cp:lastModifiedBy>
  <cp:revision>7</cp:revision>
  <dcterms:created xsi:type="dcterms:W3CDTF">2025-04-13T03:20:54Z</dcterms:created>
  <dcterms:modified xsi:type="dcterms:W3CDTF">2025-04-13T17:18:11Z</dcterms:modified>
</cp:coreProperties>
</file>